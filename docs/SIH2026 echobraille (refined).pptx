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6.jpg" ContentType="image/jpeg"/>
  <Override PartName="/ppt/notesSlides/notesSlide5.xml" ContentType="application/vnd.openxmlformats-officedocument.presentationml.notesSlide+xml"/>
  <Override PartName="/ppt/media/image7.jpg" ContentType="image/jpeg"/>
  <Override PartName="/ppt/media/image10.jpg" ContentType="image/jpe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7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45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modharan M" userId="6d106325e6e6158b" providerId="LiveId" clId="{8439A695-7228-4D11-89CC-7AF9D9947549}"/>
    <pc:docChg chg="undo custSel modSld">
      <pc:chgData name="Dhamodharan M" userId="6d106325e6e6158b" providerId="LiveId" clId="{8439A695-7228-4D11-89CC-7AF9D9947549}" dt="2026-09-22T10:34:28.480" v="1" actId="1076"/>
      <pc:docMkLst>
        <pc:docMk/>
      </pc:docMkLst>
      <pc:sldChg chg="modSp mod">
        <pc:chgData name="Dhamodharan M" userId="6d106325e6e6158b" providerId="LiveId" clId="{8439A695-7228-4D11-89CC-7AF9D9947549}" dt="2026-09-22T10:34:28.480" v="1" actId="1076"/>
        <pc:sldMkLst>
          <pc:docMk/>
          <pc:sldMk cId="3663567350" sldId="297"/>
        </pc:sldMkLst>
        <pc:picChg chg="mod">
          <ac:chgData name="Dhamodharan M" userId="6d106325e6e6158b" providerId="LiveId" clId="{8439A695-7228-4D11-89CC-7AF9D9947549}" dt="2026-09-22T10:34:28.480" v="1" actId="1076"/>
          <ac:picMkLst>
            <pc:docMk/>
            <pc:sldMk cId="3663567350" sldId="297"/>
            <ac:picMk id="20" creationId="{45527328-F654-7084-A628-6AE13F852A4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BXi1tG78AW4?si=8tUXQTDPtk81DVBa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ieeexplore.ieee.org/document/1389689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vinfo.gov/content/pkg/GOVPUB-LC19-PURL-gpo38772/pdf/GOVPUB-LC19-PURL-gpo38772.pdf" TargetMode="External"/><Relationship Id="rId11" Type="http://schemas.openxmlformats.org/officeDocument/2006/relationships/image" Target="../media/image10.jpg"/><Relationship Id="rId5" Type="http://schemas.openxmlformats.org/officeDocument/2006/relationships/image" Target="../media/image8.jpeg"/><Relationship Id="rId10" Type="http://schemas.openxmlformats.org/officeDocument/2006/relationships/image" Target="../media/image9.jpeg"/><Relationship Id="rId4" Type="http://schemas.openxmlformats.org/officeDocument/2006/relationships/image" Target="../media/image7.jpg"/><Relationship Id="rId9" Type="http://schemas.openxmlformats.org/officeDocument/2006/relationships/hyperlink" Target="https://github.com/dhamodharan-13/EchoBraill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923720" y="2168165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2076450"/>
            <a:ext cx="7101901" cy="4317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SIH26215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Students innovation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MedTech/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BioTech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/ HealthTech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Team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Echobraille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480736" y="52833"/>
            <a:ext cx="7230525" cy="1143000"/>
          </a:xfrm>
        </p:spPr>
        <p:txBody>
          <a:bodyPr/>
          <a:lstStyle/>
          <a:p>
            <a:pPr eaLnBrk="1" hangingPunct="1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EchoBraille: An Intelligent AI-Based 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Voice-to-Braille Assistive Device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42414"/>
            <a:ext cx="185298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 err="1"/>
              <a:t>Echobraille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253AF7-A415-3B8C-8C4F-64CC585881D1}"/>
              </a:ext>
            </a:extLst>
          </p:cNvPr>
          <p:cNvSpPr/>
          <p:nvPr/>
        </p:nvSpPr>
        <p:spPr>
          <a:xfrm>
            <a:off x="329772" y="1273675"/>
            <a:ext cx="5629137" cy="437347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10000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F3A4F2A-32BC-EA83-F5F7-C6803A2D7F5D}"/>
              </a:ext>
            </a:extLst>
          </p:cNvPr>
          <p:cNvSpPr/>
          <p:nvPr/>
        </p:nvSpPr>
        <p:spPr>
          <a:xfrm>
            <a:off x="6260880" y="1273674"/>
            <a:ext cx="5629137" cy="437214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FD1155-0D83-E98A-CC5F-01B4B9ED60CD}"/>
              </a:ext>
            </a:extLst>
          </p:cNvPr>
          <p:cNvSpPr txBox="1"/>
          <p:nvPr/>
        </p:nvSpPr>
        <p:spPr>
          <a:xfrm>
            <a:off x="2126029" y="1371008"/>
            <a:ext cx="207593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400" b="1" dirty="0">
                <a:latin typeface="Aptos Display" panose="020B0004020202020204" pitchFamily="34" charset="0"/>
              </a:rPr>
              <a:t>PROBLEM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7EE0F0-C017-1815-29BC-8F60AD945BBF}"/>
              </a:ext>
            </a:extLst>
          </p:cNvPr>
          <p:cNvSpPr txBox="1"/>
          <p:nvPr/>
        </p:nvSpPr>
        <p:spPr>
          <a:xfrm>
            <a:off x="337601" y="1971129"/>
            <a:ext cx="558979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 Narrow" panose="020B0004020202020204" pitchFamily="34" charset="0"/>
              </a:rPr>
              <a:t>AI mainly communicates through text or voice, inaccessible to deafblind users.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 Narrow" panose="020B0004020202020204" pitchFamily="34" charset="0"/>
              </a:rPr>
              <a:t>Deafblind users cannot easily read AI text or hear AI responses.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 Narrow" panose="020B0004020202020204" pitchFamily="34" charset="0"/>
              </a:rPr>
              <a:t>1.5B+ people have hearing loss and 2.2B+ have vision impairment worldwide.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 Narrow" panose="020B0004020202020204" pitchFamily="34" charset="0"/>
              </a:rPr>
              <a:t>Existing smartphones, chatbots and voice assistants depend heavily on sight or hearing.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 Narrow" panose="020B0004020202020204" pitchFamily="34" charset="0"/>
              </a:rPr>
              <a:t>Electronic Braille systems can be expensive and complex, requiring specialized hardware/software.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 Narrow" panose="020B0004020202020204" pitchFamily="34" charset="0"/>
              </a:rPr>
              <a:t>There is a need for a simple, portable and affordable system that converts AI responses into physical Braille.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Aptos Narrow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1512D9-5000-07B3-9455-F579795FB633}"/>
              </a:ext>
            </a:extLst>
          </p:cNvPr>
          <p:cNvSpPr txBox="1"/>
          <p:nvPr/>
        </p:nvSpPr>
        <p:spPr>
          <a:xfrm>
            <a:off x="7982112" y="1345889"/>
            <a:ext cx="219794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400" b="1" dirty="0">
                <a:latin typeface="Aptos Display" panose="020B0004020202020204" pitchFamily="34" charset="0"/>
              </a:rPr>
              <a:t>SOLUTION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BB2B6AA-A6D7-02BA-5D45-005ADECA35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9905" r="90502">
                        <a14:foregroundMark x1="15739" y1="40435" x2="15739" y2="40435"/>
                        <a14:foregroundMark x1="18182" y1="49130" x2="18182" y2="49130"/>
                        <a14:foregroundMark x1="19946" y1="47826" x2="19946" y2="47826"/>
                        <a14:foregroundMark x1="21710" y1="46087" x2="21710" y2="46087"/>
                        <a14:foregroundMark x1="29172" y1="51304" x2="29172" y2="51304"/>
                        <a14:foregroundMark x1="44776" y1="44783" x2="44776" y2="44783"/>
                        <a14:foregroundMark x1="45047" y1="45217" x2="45047" y2="45217"/>
                        <a14:foregroundMark x1="48982" y1="46957" x2="48982" y2="46957"/>
                        <a14:foregroundMark x1="52782" y1="46087" x2="52782" y2="46087"/>
                        <a14:foregroundMark x1="69607" y1="51304" x2="69607" y2="51304"/>
                        <a14:foregroundMark x1="73677" y1="30435" x2="73677" y2="30435"/>
                        <a14:foregroundMark x1="76798" y1="40870" x2="76798" y2="40870"/>
                        <a14:foregroundMark x1="80733" y1="31304" x2="80733" y2="31304"/>
                        <a14:foregroundMark x1="83582" y1="31739" x2="83582" y2="31739"/>
                        <a14:foregroundMark x1="83853" y1="40870" x2="83853" y2="40870"/>
                        <a14:foregroundMark x1="83989" y1="50435" x2="83989" y2="50435"/>
                        <a14:foregroundMark x1="80326" y1="51304" x2="80326" y2="51304"/>
                        <a14:foregroundMark x1="86703" y1="49565" x2="86703" y2="49565"/>
                        <a14:foregroundMark x1="90502" y1="42174" x2="90502" y2="42174"/>
                        <a14:foregroundMark x1="84532" y1="60870" x2="84532" y2="60870"/>
                        <a14:foregroundMark x1="87788" y1="32609" x2="87788" y2="32609"/>
                        <a14:foregroundMark x1="83718" y1="66087" x2="83718" y2="66087"/>
                        <a14:foregroundMark x1="85075" y1="70000" x2="85075" y2="70000"/>
                        <a14:foregroundMark x1="15604" y1="39565" x2="15604" y2="39565"/>
                        <a14:foregroundMark x1="14247" y1="34348" x2="14247" y2="34348"/>
                        <a14:foregroundMark x1="14518" y1="25217" x2="14518" y2="25217"/>
                        <a14:foregroundMark x1="14247" y1="55652" x2="14247" y2="55652"/>
                        <a14:foregroundMark x1="89009" y1="78261" x2="89009" y2="7826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29782" y="4744391"/>
            <a:ext cx="3375229" cy="99308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EF3B435-8A00-5D6E-C300-5DC429B936E2}"/>
              </a:ext>
            </a:extLst>
          </p:cNvPr>
          <p:cNvSpPr txBox="1"/>
          <p:nvPr/>
        </p:nvSpPr>
        <p:spPr>
          <a:xfrm>
            <a:off x="6239734" y="1973068"/>
            <a:ext cx="570108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 Narrow" panose="020B0004020202020204" pitchFamily="34" charset="0"/>
              </a:rPr>
              <a:t>Converts voice input into text using speech recognition.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 Narrow" panose="020B0004020202020204" pitchFamily="34" charset="0"/>
              </a:rPr>
              <a:t>Uses an AI chatbot to understand queries and generate meaningful responses.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 Narrow" panose="020B0004020202020204" pitchFamily="34" charset="0"/>
              </a:rPr>
              <a:t>Converts AI-generated text into standard 6-dot Braille patterns.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 Narrow" panose="020B0004020202020204" pitchFamily="34" charset="0"/>
              </a:rPr>
              <a:t>Sends Braille data wirelessly to an ESP32 controller.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 Narrow" panose="020B0004020202020204" pitchFamily="34" charset="0"/>
              </a:rPr>
              <a:t>Uses six servo-driven tactile pins to physically display each Braille character.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 Narrow" panose="020B0004020202020204" pitchFamily="34" charset="0"/>
              </a:rPr>
              <a:t>Provides a portable, affordable AI-to-Braille system for independent access through touch.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A72989-2A81-9A0F-919F-D17D32479FF5}"/>
              </a:ext>
            </a:extLst>
          </p:cNvPr>
          <p:cNvSpPr txBox="1"/>
          <p:nvPr/>
        </p:nvSpPr>
        <p:spPr>
          <a:xfrm>
            <a:off x="1720861" y="5688172"/>
            <a:ext cx="8750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“Bridging AI and the deafblind community through affordable, portable, real-time tactile communication.”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0" name="Oval 29" descr="Your startup LOGO">
            <a:extLst>
              <a:ext uri="{FF2B5EF4-FFF2-40B4-BE49-F238E27FC236}">
                <a16:creationId xmlns:a16="http://schemas.microsoft.com/office/drawing/2014/main" id="{697B7DD7-DEA1-8FBE-FAE6-00F3C1DA413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42414"/>
            <a:ext cx="185298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 err="1"/>
              <a:t>Echobraille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49F4322-8526-105C-9C7B-42803D4FAB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192"/>
          <a:stretch>
            <a:fillRect/>
          </a:stretch>
        </p:blipFill>
        <p:spPr>
          <a:xfrm>
            <a:off x="609600" y="1116356"/>
            <a:ext cx="11012021" cy="52524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-18820"/>
            <a:ext cx="2249850" cy="1062337"/>
          </a:xfrm>
          <a:prstGeom prst="rect">
            <a:avLst/>
          </a:prstGeom>
        </p:spPr>
      </p:pic>
      <p:sp>
        <p:nvSpPr>
          <p:cNvPr id="17" name="Oval 16" descr="Your startup LOGO">
            <a:extLst>
              <a:ext uri="{FF2B5EF4-FFF2-40B4-BE49-F238E27FC236}">
                <a16:creationId xmlns:a16="http://schemas.microsoft.com/office/drawing/2014/main" id="{AB9C8C52-943C-BA38-3617-1A1B9C5EF9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10334"/>
            <a:ext cx="185298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 err="1"/>
              <a:t>Echobraille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82FCE1-9ED2-F1C8-2660-D90013FB8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251037"/>
              </p:ext>
            </p:extLst>
          </p:nvPr>
        </p:nvGraphicFramePr>
        <p:xfrm>
          <a:off x="0" y="1011244"/>
          <a:ext cx="12192000" cy="5318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356">
                  <a:extLst>
                    <a:ext uri="{9D8B030D-6E8A-4147-A177-3AD203B41FA5}">
                      <a16:colId xmlns:a16="http://schemas.microsoft.com/office/drawing/2014/main" val="2137818305"/>
                    </a:ext>
                  </a:extLst>
                </a:gridCol>
                <a:gridCol w="2632316">
                  <a:extLst>
                    <a:ext uri="{9D8B030D-6E8A-4147-A177-3AD203B41FA5}">
                      <a16:colId xmlns:a16="http://schemas.microsoft.com/office/drawing/2014/main" val="127149972"/>
                    </a:ext>
                  </a:extLst>
                </a:gridCol>
                <a:gridCol w="2866254">
                  <a:extLst>
                    <a:ext uri="{9D8B030D-6E8A-4147-A177-3AD203B41FA5}">
                      <a16:colId xmlns:a16="http://schemas.microsoft.com/office/drawing/2014/main" val="3948167819"/>
                    </a:ext>
                  </a:extLst>
                </a:gridCol>
                <a:gridCol w="2411294">
                  <a:extLst>
                    <a:ext uri="{9D8B030D-6E8A-4147-A177-3AD203B41FA5}">
                      <a16:colId xmlns:a16="http://schemas.microsoft.com/office/drawing/2014/main" val="41037206"/>
                    </a:ext>
                  </a:extLst>
                </a:gridCol>
                <a:gridCol w="3092780">
                  <a:extLst>
                    <a:ext uri="{9D8B030D-6E8A-4147-A177-3AD203B41FA5}">
                      <a16:colId xmlns:a16="http://schemas.microsoft.com/office/drawing/2014/main" val="2356994196"/>
                    </a:ext>
                  </a:extLst>
                </a:gridCol>
              </a:tblGrid>
              <a:tr h="940434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191919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64008" marR="64008" marT="50292" marB="41148">
                    <a:solidFill>
                      <a:srgbClr val="B5C7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191919"/>
                          </a:solidFill>
                          <a:latin typeface="Arial"/>
                        </a:rPr>
                        <a:t>Technical</a:t>
                      </a:r>
                    </a:p>
                  </a:txBody>
                  <a:tcPr marL="64008" marR="64008" marT="50292" marB="41148">
                    <a:solidFill>
                      <a:srgbClr val="B5C7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191919"/>
                          </a:solidFill>
                          <a:latin typeface="Arial"/>
                        </a:rPr>
                        <a:t>Analysis of the Feasibility of the Idea</a:t>
                      </a:r>
                    </a:p>
                  </a:txBody>
                  <a:tcPr marL="64008" marR="64008" marT="50292" marB="41148">
                    <a:solidFill>
                      <a:srgbClr val="B5C7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191919"/>
                          </a:solidFill>
                          <a:latin typeface="Arial"/>
                        </a:rPr>
                        <a:t>Potential Challenges &amp; Risks</a:t>
                      </a:r>
                    </a:p>
                  </a:txBody>
                  <a:tcPr marL="64008" marR="64008" marT="50292" marB="41148">
                    <a:solidFill>
                      <a:srgbClr val="B5C7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191919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marL="64008" marR="64008" marT="50292" marB="41148">
                    <a:solidFill>
                      <a:srgbClr val="B5C7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485169"/>
                  </a:ext>
                </a:extLst>
              </a:tr>
              <a:tr h="1752627"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191919"/>
                          </a:solidFill>
                          <a:latin typeface="Arial"/>
                        </a:rPr>
                        <a:t>Feasibility</a:t>
                      </a:r>
                      <a:endParaRPr sz="2000" b="1" dirty="0">
                        <a:solidFill>
                          <a:srgbClr val="191919"/>
                        </a:solidFill>
                        <a:latin typeface="Arial"/>
                      </a:endParaRPr>
                    </a:p>
                  </a:txBody>
                  <a:tcPr marL="64008" marR="64008" marT="50292" marB="41148">
                    <a:solidFill>
                      <a:srgbClr val="B5C7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91919"/>
                          </a:solidFill>
                          <a:latin typeface="Aptos" panose="020B0004020202020204" pitchFamily="34" charset="0"/>
                        </a:rPr>
                        <a:t>ESP32 for wireless communication; PCA9685 servo driver; 6 servo motors for 6-dot Braille; OLED display for text feedback; mobile application with speech-to-text and AI chatbot; Braille encoder for text-to-Braille conversion.</a:t>
                      </a:r>
                    </a:p>
                  </a:txBody>
                  <a:tcPr marL="64008" marR="64008" marT="50292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91919"/>
                          </a:solidFill>
                          <a:latin typeface="Aptos" panose="020B0004020202020204" pitchFamily="34" charset="0"/>
                        </a:rPr>
                        <a:t>Uses readily available, cost-effective components. The prototype can operate with wireless communication between the app and ESP32. The braille module is comparatively cheap (≈ ₹1500 per module) than typical commercial Braille displays.</a:t>
                      </a:r>
                    </a:p>
                  </a:txBody>
                  <a:tcPr marL="64008" marR="64008" marT="50292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91919"/>
                          </a:solidFill>
                          <a:latin typeface="Aptos" panose="020B0004020202020204" pitchFamily="34" charset="0"/>
                        </a:rPr>
                        <a:t>Servo positioning accuracy; wireless connectivity and response latency; power management for portable use; mechanical durability of tactile pins.</a:t>
                      </a:r>
                    </a:p>
                  </a:txBody>
                  <a:tcPr marL="64008" marR="64008" marT="50292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91919"/>
                          </a:solidFill>
                          <a:latin typeface="Aptos" panose="020B0004020202020204" pitchFamily="34" charset="0"/>
                        </a:rPr>
                        <a:t>Precise servo calibration; optimized Bluetooth/Wi-Fi communication; efficient power design; robust mechanical enclosure and repeated prototype testing.</a:t>
                      </a:r>
                    </a:p>
                  </a:txBody>
                  <a:tcPr marL="64008" marR="64008" marT="50292" marB="4114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350440"/>
                  </a:ext>
                </a:extLst>
              </a:tr>
              <a:tr h="1196916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191919"/>
                          </a:solidFill>
                          <a:latin typeface="Arial"/>
                        </a:rPr>
                        <a:t>Risks and Challenges</a:t>
                      </a:r>
                    </a:p>
                  </a:txBody>
                  <a:tcPr marL="64008" marR="64008" marT="50292" marB="41148">
                    <a:solidFill>
                      <a:srgbClr val="B5C7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91919"/>
                          </a:solidFill>
                          <a:latin typeface="Aptos" panose="020B0004020202020204" pitchFamily="34" charset="0"/>
                        </a:rPr>
                        <a:t>Speech-to-text (voice input); AI response generation; 6-dot Braille conversion; servo-based tactile output; OLED display for corresponding letter.</a:t>
                      </a:r>
                    </a:p>
                  </a:txBody>
                  <a:tcPr marL="64008" marR="64008" marT="50292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91919"/>
                          </a:solidFill>
                          <a:latin typeface="Aptos" panose="020B0004020202020204" pitchFamily="34" charset="0"/>
                        </a:rPr>
                        <a:t>Each stage is technically achievable with existing technologies. However, errors in any stage can affect the final Braille output.</a:t>
                      </a:r>
                    </a:p>
                  </a:txBody>
                  <a:tcPr marL="64008" marR="64008" marT="50292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91919"/>
                          </a:solidFill>
                          <a:latin typeface="Aptos" panose="020B0004020202020204" pitchFamily="34" charset="0"/>
                        </a:rPr>
                        <a:t>Speech recognition errors (noise, accents); incorrect or irrelevant AI responses; Braille encoding errors; inconsistent servo movement; hardware failure.</a:t>
                      </a:r>
                    </a:p>
                  </a:txBody>
                  <a:tcPr marL="64008" marR="64008" marT="50292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91919"/>
                          </a:solidFill>
                          <a:latin typeface="Aptos" panose="020B0004020202020204" pitchFamily="34" charset="0"/>
                        </a:rPr>
                        <a:t>Use reliable speech-to-text APIs; response filtering and verification; standard Braille mapping; servo calibration and testing; regular hardware checks and error handling in software.</a:t>
                      </a:r>
                    </a:p>
                  </a:txBody>
                  <a:tcPr marL="64008" marR="64008" marT="50292" marB="4114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505144"/>
                  </a:ext>
                </a:extLst>
              </a:tr>
              <a:tr h="1196916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191919"/>
                          </a:solidFill>
                          <a:latin typeface="Arial"/>
                        </a:rPr>
                        <a:t>Operational Strategies to overcome</a:t>
                      </a:r>
                    </a:p>
                  </a:txBody>
                  <a:tcPr marL="64008" marR="64008" marT="50292" marB="41148">
                    <a:solidFill>
                      <a:srgbClr val="B5C7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91919"/>
                          </a:solidFill>
                          <a:latin typeface="Aptos" panose="020B0004020202020204" pitchFamily="34" charset="0"/>
                        </a:rPr>
                        <a:t>AI chatbot (cloud/app); Braille encoder (ESP32); PCA9685 servo driver; tactile Braille module with OLED display; wireless communication.</a:t>
                      </a:r>
                    </a:p>
                  </a:txBody>
                  <a:tcPr marL="64008" marR="64008" marT="50292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91919"/>
                          </a:solidFill>
                          <a:latin typeface="Aptos" panose="020B0004020202020204" pitchFamily="34" charset="0"/>
                        </a:rPr>
                        <a:t>Separation of AI processing (app) and tactile hardware (ESP32) makes the system easier to develop, test and upgrade. The low-cost braille module makes it more accessible and scalable for wider use.</a:t>
                      </a:r>
                    </a:p>
                  </a:txBody>
                  <a:tcPr marL="64008" marR="64008" marT="50292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91919"/>
                          </a:solidFill>
                          <a:latin typeface="Aptos" panose="020B0004020202020204" pitchFamily="34" charset="0"/>
                        </a:rPr>
                        <a:t>Dependence on internet/AI services; mechanical wear or misalignment of servo pins; power constraints for portable use; user adaptation.</a:t>
                      </a:r>
                    </a:p>
                  </a:txBody>
                  <a:tcPr marL="64008" marR="64008" marT="50292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91919"/>
                          </a:solidFill>
                          <a:latin typeface="Aptos" panose="020B0004020202020204" pitchFamily="34" charset="0"/>
                        </a:rPr>
                        <a:t>Modular architecture; offline/basic fallback functions where possible; use durable components and periodic calibration; efficient battery management; user testing and feedback for improvements.</a:t>
                      </a:r>
                    </a:p>
                  </a:txBody>
                  <a:tcPr marL="64008" marR="64008" marT="50292" marB="4114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605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936999" y="145785"/>
            <a:ext cx="43180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object 9">
            <a:extLst>
              <a:ext uri="{FF2B5EF4-FFF2-40B4-BE49-F238E27FC236}">
                <a16:creationId xmlns:a16="http://schemas.microsoft.com/office/drawing/2014/main" id="{5ED29DA1-C3AB-A804-E2B0-E197CD214ED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46699" y="181454"/>
            <a:ext cx="1399556" cy="1007539"/>
          </a:xfrm>
          <a:prstGeom prst="roundRect">
            <a:avLst>
              <a:gd name="adj" fmla="val 36838"/>
            </a:avLst>
          </a:prstGeom>
        </p:spPr>
      </p:pic>
      <p:sp>
        <p:nvSpPr>
          <p:cNvPr id="20" name="Oval 19" descr="Your startup LOGO">
            <a:extLst>
              <a:ext uri="{FF2B5EF4-FFF2-40B4-BE49-F238E27FC236}">
                <a16:creationId xmlns:a16="http://schemas.microsoft.com/office/drawing/2014/main" id="{EA861F42-B297-B43E-C5A6-C20B3C8C2B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81454"/>
            <a:ext cx="185298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 err="1"/>
              <a:t>Echobraille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A6909D4-43BB-1D44-9637-47EA1BF23C8D}"/>
              </a:ext>
            </a:extLst>
          </p:cNvPr>
          <p:cNvSpPr/>
          <p:nvPr/>
        </p:nvSpPr>
        <p:spPr>
          <a:xfrm>
            <a:off x="118496" y="1520812"/>
            <a:ext cx="6404223" cy="4727363"/>
          </a:xfrm>
          <a:prstGeom prst="roundRect">
            <a:avLst>
              <a:gd name="adj" fmla="val 8285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1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99370F-9F5C-4381-BE77-EEB942AE493B}"/>
              </a:ext>
            </a:extLst>
          </p:cNvPr>
          <p:cNvSpPr txBox="1"/>
          <p:nvPr/>
        </p:nvSpPr>
        <p:spPr>
          <a:xfrm>
            <a:off x="168288" y="2133361"/>
            <a:ext cx="635443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AI Accessibility</a:t>
            </a:r>
            <a:r>
              <a:rPr lang="en-IN" dirty="0">
                <a:latin typeface="Aptos" panose="020B0004020202020204" pitchFamily="34" charset="0"/>
              </a:rPr>
              <a:t> – Enables deafblind users to access AI-generated information through touch.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Greater Independence</a:t>
            </a:r>
            <a:r>
              <a:rPr lang="en-IN" dirty="0">
                <a:latin typeface="Aptos" panose="020B0004020202020204" pitchFamily="34" charset="0"/>
              </a:rPr>
              <a:t> – Reduces dependence on others for accessing digital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Affordable Assistive Technology</a:t>
            </a:r>
            <a:r>
              <a:rPr lang="en-IN" dirty="0">
                <a:latin typeface="Aptos" panose="020B0004020202020204" pitchFamily="34" charset="0"/>
              </a:rPr>
              <a:t> – Uses a low-cost, modular hardware approach compared with conventional electronic Braille displays.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Educational Support</a:t>
            </a:r>
            <a:r>
              <a:rPr lang="en-IN" dirty="0">
                <a:latin typeface="Aptos" panose="020B0004020202020204" pitchFamily="34" charset="0"/>
              </a:rPr>
              <a:t> – Can provide accessible explanations, learning content and information through tactile Braille.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Portable &amp; Practical</a:t>
            </a:r>
            <a:r>
              <a:rPr lang="en-IN" dirty="0">
                <a:latin typeface="Aptos" panose="020B0004020202020204" pitchFamily="34" charset="0"/>
              </a:rPr>
              <a:t> – Combines a smartphone, ESP32 and compact Braille module into a portable system.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Inclusive AI</a:t>
            </a:r>
            <a:r>
              <a:rPr lang="en-IN" dirty="0">
                <a:latin typeface="Aptos" panose="020B0004020202020204" pitchFamily="34" charset="0"/>
              </a:rPr>
              <a:t> – Extends conversational AI beyond visual and audio interfaces to the </a:t>
            </a:r>
            <a:r>
              <a:rPr lang="en-IN" b="1" dirty="0">
                <a:latin typeface="Aptos" panose="020B0004020202020204" pitchFamily="34" charset="0"/>
              </a:rPr>
              <a:t>tactile domain</a:t>
            </a:r>
            <a:r>
              <a:rPr lang="en-IN" dirty="0"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FD754B5-FF48-3C2A-833D-C52B632C869F}"/>
              </a:ext>
            </a:extLst>
          </p:cNvPr>
          <p:cNvSpPr/>
          <p:nvPr/>
        </p:nvSpPr>
        <p:spPr>
          <a:xfrm>
            <a:off x="6683196" y="1523939"/>
            <a:ext cx="5431792" cy="3233245"/>
          </a:xfrm>
          <a:prstGeom prst="roundRect">
            <a:avLst>
              <a:gd name="adj" fmla="val 13210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1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EC4BFD-0362-1475-F565-01256C14DBA4}"/>
              </a:ext>
            </a:extLst>
          </p:cNvPr>
          <p:cNvSpPr txBox="1"/>
          <p:nvPr/>
        </p:nvSpPr>
        <p:spPr>
          <a:xfrm>
            <a:off x="8288983" y="1644136"/>
            <a:ext cx="225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FUTURE SCOPE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A1B12D-F0BF-085A-830E-58C5FB1655B8}"/>
              </a:ext>
            </a:extLst>
          </p:cNvPr>
          <p:cNvSpPr txBox="1"/>
          <p:nvPr/>
        </p:nvSpPr>
        <p:spPr>
          <a:xfrm>
            <a:off x="6683195" y="2058289"/>
            <a:ext cx="55604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Multi-Character Display:</a:t>
            </a:r>
            <a:r>
              <a:rPr lang="en-IN" dirty="0"/>
              <a:t> Upgrade from single-character output to a multi-character refreshable Braille display.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Faster Actuation:</a:t>
            </a:r>
            <a:r>
              <a:rPr lang="en-IN" dirty="0"/>
              <a:t> Use electromagnetic or inductive actuation for faster and more compact tactile output.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Reduced Reading Time:</a:t>
            </a:r>
            <a:r>
              <a:rPr lang="en-IN" dirty="0"/>
              <a:t> Display multiple characters simultaneously for faster, more natural reading.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Advanced Features:</a:t>
            </a:r>
            <a:r>
              <a:rPr lang="en-IN" dirty="0"/>
              <a:t> Add multilingual Braille support and enhanced AI capabilities.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EE5334-CF4E-C707-E2D2-49E0C9111748}"/>
              </a:ext>
            </a:extLst>
          </p:cNvPr>
          <p:cNvSpPr txBox="1"/>
          <p:nvPr/>
        </p:nvSpPr>
        <p:spPr>
          <a:xfrm>
            <a:off x="961739" y="1644136"/>
            <a:ext cx="4717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</a:rPr>
              <a:t>A NEW DIMENSSION OF ACCESS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D30564A-1BAB-1E33-5A1D-6E858EAA5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205" y="181454"/>
            <a:ext cx="1399556" cy="1007539"/>
          </a:xfrm>
          <a:prstGeom prst="roundRect">
            <a:avLst>
              <a:gd name="adj" fmla="val 36010"/>
            </a:avLst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DFA8FF9-9B84-7186-0462-2B4712334E88}"/>
              </a:ext>
            </a:extLst>
          </p:cNvPr>
          <p:cNvSpPr/>
          <p:nvPr/>
        </p:nvSpPr>
        <p:spPr>
          <a:xfrm>
            <a:off x="6683195" y="4954613"/>
            <a:ext cx="5431792" cy="1293561"/>
          </a:xfrm>
          <a:prstGeom prst="roundRect">
            <a:avLst>
              <a:gd name="adj" fmla="val 31411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1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DDE8DC-E3B6-C3CB-9AD0-696444E4797A}"/>
              </a:ext>
            </a:extLst>
          </p:cNvPr>
          <p:cNvSpPr txBox="1"/>
          <p:nvPr/>
        </p:nvSpPr>
        <p:spPr>
          <a:xfrm>
            <a:off x="6744113" y="5018060"/>
            <a:ext cx="5346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“Our motto is simple: Making AI accessible, one touch at a time. We believe technology should go beyond sight and sound, creating a world where everyone can experience the power of AI.”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700">
                <a:solidFill>
                  <a:srgbClr val="191919"/>
                </a:solidFill>
                <a:latin typeface="Arial"/>
              </a:defRPr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C7C00EC8-07D6-73DE-05E8-0914A9768EC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42414"/>
            <a:ext cx="185298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 err="1"/>
              <a:t>Echobraille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3AF5AB-EFBF-7C1E-3F80-1CDAE2BD35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045" t="11932" r="24049" b="37153"/>
          <a:stretch>
            <a:fillRect/>
          </a:stretch>
        </p:blipFill>
        <p:spPr>
          <a:xfrm>
            <a:off x="7127941" y="4730792"/>
            <a:ext cx="2363520" cy="1412309"/>
          </a:xfrm>
          <a:prstGeom prst="round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ABC769-E9B9-4B2E-7F2B-9F6A4D0E0B0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69" r="14341"/>
          <a:stretch>
            <a:fillRect/>
          </a:stretch>
        </p:blipFill>
        <p:spPr>
          <a:xfrm>
            <a:off x="9972023" y="2049773"/>
            <a:ext cx="1745633" cy="1969252"/>
          </a:xfrm>
          <a:prstGeom prst="round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65A9C7-86F2-7C50-C01C-B1F185E29F2E}"/>
              </a:ext>
            </a:extLst>
          </p:cNvPr>
          <p:cNvSpPr/>
          <p:nvPr/>
        </p:nvSpPr>
        <p:spPr>
          <a:xfrm>
            <a:off x="189438" y="1490877"/>
            <a:ext cx="6404223" cy="4727363"/>
          </a:xfrm>
          <a:prstGeom prst="roundRect">
            <a:avLst>
              <a:gd name="adj" fmla="val 8285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1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AE2D69-6D2A-E107-D6E2-6B61EA16540A}"/>
              </a:ext>
            </a:extLst>
          </p:cNvPr>
          <p:cNvSpPr txBox="1"/>
          <p:nvPr/>
        </p:nvSpPr>
        <p:spPr>
          <a:xfrm>
            <a:off x="290039" y="2197163"/>
            <a:ext cx="64042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919"/>
                </a:solidFill>
                <a:latin typeface="Arial"/>
              </a:rPr>
              <a:t>Blindness and Vision Impairment, 2026:</a:t>
            </a:r>
          </a:p>
          <a:p>
            <a:r>
              <a:rPr lang="en-IN" dirty="0">
                <a:hlinkClick r:id="rId6"/>
              </a:rPr>
              <a:t>https://www.govinfo.gov/content/pkg/GOVPUB-LC19-PURL-gpo38772/pdf/GOVPUB-LC19-PURL-gpo38772.pdf</a:t>
            </a:r>
            <a:endParaRPr lang="en-IN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Tactile display as a Braille display for the visually disabled: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https://ieeexplore.ieee.org/document/1389689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Electromechanical Refreshable Braille Module: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https://youtu.be/BXi1tG78AW4?si=8tUXQTDPtk81DVBa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GitHub repository containing project files prototype working video: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https://github.com/dhamodharan-13/EchoBraille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DDFA88-D228-B86D-4BC3-0C7FB0D57A9B}"/>
              </a:ext>
            </a:extLst>
          </p:cNvPr>
          <p:cNvSpPr txBox="1"/>
          <p:nvPr/>
        </p:nvSpPr>
        <p:spPr>
          <a:xfrm>
            <a:off x="1423858" y="1643093"/>
            <a:ext cx="3935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Aptos" panose="020B0004020202020204" pitchFamily="34" charset="0"/>
              </a:rPr>
              <a:t>LINKS AND REPOSITORY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9139000-E17D-298C-E0B0-F4ED217B11F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4222" b="9329"/>
          <a:stretch>
            <a:fillRect/>
          </a:stretch>
        </p:blipFill>
        <p:spPr>
          <a:xfrm>
            <a:off x="7138428" y="2026351"/>
            <a:ext cx="2453681" cy="2492780"/>
          </a:xfrm>
          <a:prstGeom prst="round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5527328-F654-7084-A628-6AE13F852A4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5512" b="24592"/>
          <a:stretch>
            <a:fillRect/>
          </a:stretch>
        </p:blipFill>
        <p:spPr>
          <a:xfrm>
            <a:off x="9892630" y="4155547"/>
            <a:ext cx="1865689" cy="1987554"/>
          </a:xfrm>
          <a:prstGeom prst="round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0C8D2DA-F9D1-978C-6625-3A1859508D44}"/>
              </a:ext>
            </a:extLst>
          </p:cNvPr>
          <p:cNvSpPr txBox="1"/>
          <p:nvPr/>
        </p:nvSpPr>
        <p:spPr>
          <a:xfrm>
            <a:off x="7624418" y="1392832"/>
            <a:ext cx="3935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Aptos" panose="020B0004020202020204" pitchFamily="34" charset="0"/>
              </a:rPr>
              <a:t>PROTOTYPE IMAGES:</a:t>
            </a:r>
          </a:p>
        </p:txBody>
      </p:sp>
    </p:spTree>
    <p:extLst>
      <p:ext uri="{BB962C8B-B14F-4D97-AF65-F5344CB8AC3E}">
        <p14:creationId xmlns:p14="http://schemas.microsoft.com/office/powerpoint/2010/main" val="3663567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11081</TotalTime>
  <Words>905</Words>
  <Application>Microsoft Office PowerPoint</Application>
  <PresentationFormat>Widescreen</PresentationFormat>
  <Paragraphs>102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Aptos</vt:lpstr>
      <vt:lpstr>Aptos Display</vt:lpstr>
      <vt:lpstr>Aptos Narrow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EchoBraille: An Intelligent AI-Based  Voice-to-Braille Assistive Device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Dhamodharan M</cp:lastModifiedBy>
  <cp:revision>152</cp:revision>
  <dcterms:created xsi:type="dcterms:W3CDTF">2013-12-12T18:46:50Z</dcterms:created>
  <dcterms:modified xsi:type="dcterms:W3CDTF">2026-09-22T10:34:38Z</dcterms:modified>
  <cp:category/>
</cp:coreProperties>
</file>